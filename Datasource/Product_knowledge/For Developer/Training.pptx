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9" r:id="rId5"/>
    <p:sldId id="269" r:id="rId6"/>
    <p:sldId id="258" r:id="rId7"/>
    <p:sldId id="260" r:id="rId8"/>
    <p:sldId id="270" r:id="rId9"/>
    <p:sldId id="261" r:id="rId10"/>
    <p:sldId id="263" r:id="rId11"/>
    <p:sldId id="264" r:id="rId12"/>
    <p:sldId id="265" r:id="rId13"/>
    <p:sldId id="266" r:id="rId14"/>
    <p:sldId id="267" r:id="rId15"/>
    <p:sldId id="262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-24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E340-A3B9-4DF3-A333-55D89AA9562C}" type="datetimeFigureOut">
              <a:rPr lang="en-US" smtClean="0"/>
              <a:pPr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A3D3F-D621-4EDD-A9BA-AB84CF94BB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E340-A3B9-4DF3-A333-55D89AA9562C}" type="datetimeFigureOut">
              <a:rPr lang="en-US" smtClean="0"/>
              <a:pPr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A3D3F-D621-4EDD-A9BA-AB84CF94BB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E340-A3B9-4DF3-A333-55D89AA9562C}" type="datetimeFigureOut">
              <a:rPr lang="en-US" smtClean="0"/>
              <a:pPr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A3D3F-D621-4EDD-A9BA-AB84CF94BB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E340-A3B9-4DF3-A333-55D89AA9562C}" type="datetimeFigureOut">
              <a:rPr lang="en-US" smtClean="0"/>
              <a:pPr/>
              <a:t>9/9/2021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A3D3F-D621-4EDD-A9BA-AB84CF94BB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E340-A3B9-4DF3-A333-55D89AA9562C}" type="datetimeFigureOut">
              <a:rPr lang="en-US" smtClean="0"/>
              <a:pPr/>
              <a:t>9/9/2021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A3D3F-D621-4EDD-A9BA-AB84CF94BB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E340-A3B9-4DF3-A333-55D89AA9562C}" type="datetimeFigureOut">
              <a:rPr lang="en-US" smtClean="0"/>
              <a:pPr/>
              <a:t>9/9/2021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A3D3F-D621-4EDD-A9BA-AB84CF94BB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E340-A3B9-4DF3-A333-55D89AA9562C}" type="datetimeFigureOut">
              <a:rPr lang="en-US" smtClean="0"/>
              <a:pPr/>
              <a:t>9/9/2021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A3D3F-D621-4EDD-A9BA-AB84CF94BB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E340-A3B9-4DF3-A333-55D89AA9562C}" type="datetimeFigureOut">
              <a:rPr lang="en-US" smtClean="0"/>
              <a:pPr/>
              <a:t>9/9/2021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A3D3F-D621-4EDD-A9BA-AB84CF94BB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E340-A3B9-4DF3-A333-55D89AA9562C}" type="datetimeFigureOut">
              <a:rPr lang="en-US" smtClean="0"/>
              <a:pPr/>
              <a:t>9/9/2021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A3D3F-D621-4EDD-A9BA-AB84CF94BB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E340-A3B9-4DF3-A333-55D89AA9562C}" type="datetimeFigureOut">
              <a:rPr lang="en-US" smtClean="0"/>
              <a:pPr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A3D3F-D621-4EDD-A9BA-AB84CF94BB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58E340-A3B9-4DF3-A333-55D89AA9562C}" type="datetimeFigureOut">
              <a:rPr lang="en-US" smtClean="0"/>
              <a:pPr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A3D3F-D621-4EDD-A9BA-AB84CF94BB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8E340-A3B9-4DF3-A333-55D89AA9562C}" type="datetimeFigureOut">
              <a:rPr lang="en-US" smtClean="0"/>
              <a:pPr/>
              <a:t>9/9/2021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A3D3F-D621-4EDD-A9BA-AB84CF94BB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GREEKSOFT TECH PVT LTD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Domain Knowledge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Product Knowledge</a:t>
            </a:r>
          </a:p>
          <a:p>
            <a:r>
              <a:rPr lang="en-US" b="1" dirty="0" smtClean="0">
                <a:solidFill>
                  <a:schemeClr val="tx1"/>
                </a:solidFill>
              </a:rPr>
              <a:t>Software Introduction</a:t>
            </a:r>
          </a:p>
          <a:p>
            <a:endParaRPr lang="en-US" b="1" dirty="0" smtClean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 Knowledge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Capital Market</a:t>
            </a:r>
          </a:p>
          <a:p>
            <a:r>
              <a:rPr lang="en-US" dirty="0" smtClean="0"/>
              <a:t>Shares</a:t>
            </a:r>
          </a:p>
          <a:p>
            <a:r>
              <a:rPr lang="en-US" dirty="0" smtClean="0"/>
              <a:t>Listing</a:t>
            </a:r>
          </a:p>
          <a:p>
            <a:r>
              <a:rPr lang="en-US" dirty="0" smtClean="0"/>
              <a:t>Contracts (Instruments)</a:t>
            </a:r>
          </a:p>
          <a:p>
            <a:r>
              <a:rPr lang="en-US" dirty="0" smtClean="0"/>
              <a:t>EQUITY</a:t>
            </a:r>
          </a:p>
          <a:p>
            <a:r>
              <a:rPr lang="en-US" dirty="0" smtClean="0"/>
              <a:t>FUTURE</a:t>
            </a:r>
          </a:p>
          <a:p>
            <a:r>
              <a:rPr lang="en-US" dirty="0" smtClean="0"/>
              <a:t>OPTION</a:t>
            </a:r>
          </a:p>
          <a:p>
            <a:r>
              <a:rPr lang="en-US" dirty="0" smtClean="0"/>
              <a:t>Trading (Shares/Bond)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What is the difference between Equity and Future?</a:t>
            </a:r>
          </a:p>
          <a:p>
            <a:endParaRPr lang="en-US" dirty="0" smtClean="0"/>
          </a:p>
          <a:p>
            <a:r>
              <a:rPr lang="en-US" dirty="0" smtClean="0"/>
              <a:t>What is the difference between Future and Option?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Product Knowledge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Contract (Instruments)</a:t>
            </a:r>
          </a:p>
          <a:p>
            <a:r>
              <a:rPr lang="en-US" dirty="0" smtClean="0"/>
              <a:t>Trading </a:t>
            </a:r>
          </a:p>
          <a:p>
            <a:r>
              <a:rPr lang="en-US" dirty="0" smtClean="0"/>
              <a:t>Client</a:t>
            </a:r>
          </a:p>
          <a:p>
            <a:r>
              <a:rPr lang="en-US" dirty="0" smtClean="0"/>
              <a:t>Server</a:t>
            </a:r>
          </a:p>
          <a:p>
            <a:r>
              <a:rPr lang="en-US" dirty="0" smtClean="0"/>
              <a:t>Exchange</a:t>
            </a:r>
            <a:endParaRPr lang="en-US" sz="4000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What is trading?</a:t>
            </a:r>
            <a:endParaRPr lang="en-US" smtClean="0"/>
          </a:p>
          <a:p>
            <a:endParaRPr lang="en-US" dirty="0" smtClean="0"/>
          </a:p>
          <a:p>
            <a:r>
              <a:rPr lang="en-US" dirty="0" smtClean="0"/>
              <a:t>What is the role of exchange?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err="1" smtClean="0"/>
              <a:t>CTCLClient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Front End</a:t>
            </a:r>
          </a:p>
          <a:p>
            <a:pPr>
              <a:buNone/>
            </a:pPr>
            <a:endParaRPr lang="en-US" dirty="0" smtClean="0"/>
          </a:p>
          <a:p>
            <a:r>
              <a:rPr lang="en-US" dirty="0" err="1" smtClean="0"/>
              <a:t>CTCLManager</a:t>
            </a:r>
            <a:endParaRPr lang="en-US" dirty="0" smtClean="0"/>
          </a:p>
          <a:p>
            <a:pPr>
              <a:buNone/>
            </a:pPr>
            <a:r>
              <a:rPr lang="en-US" dirty="0"/>
              <a:t>	</a:t>
            </a:r>
            <a:r>
              <a:rPr lang="en-US" dirty="0" smtClean="0"/>
              <a:t>	Server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 of </a:t>
            </a:r>
            <a:r>
              <a:rPr lang="en-US" dirty="0" err="1" smtClean="0"/>
              <a:t>CTCLClient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Broadcast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Market Watch (F4)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Market Picture (F5/F6)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Buy Sell order (F1/F2)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Pending Order (F3)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Trade Window (F8)</a:t>
            </a: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Net Position (</a:t>
            </a:r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Alt+F6)</a:t>
            </a:r>
            <a:endParaRPr lang="en-US" dirty="0" smtClean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r>
              <a:rPr lang="en-US" dirty="0" smtClean="0">
                <a:latin typeface="Verdana" pitchFamily="34" charset="0"/>
                <a:ea typeface="Verdana" pitchFamily="34" charset="0"/>
                <a:cs typeface="Verdana" pitchFamily="34" charset="0"/>
              </a:rPr>
              <a:t>Arbitrage</a:t>
            </a:r>
          </a:p>
          <a:p>
            <a:endParaRPr lang="en-US" dirty="0">
              <a:latin typeface="Verdana" pitchFamily="34" charset="0"/>
              <a:ea typeface="Verdana" pitchFamily="34" charset="0"/>
              <a:cs typeface="Verdana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What are the messages in broadcast sent by exchange?</a:t>
            </a:r>
          </a:p>
          <a:p>
            <a:endParaRPr lang="en-US" dirty="0" smtClean="0"/>
          </a:p>
          <a:p>
            <a:r>
              <a:rPr lang="en-US" dirty="0" smtClean="0"/>
              <a:t>What is the order of buy depth and sell depth?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Components of </a:t>
            </a:r>
            <a:r>
              <a:rPr lang="en-US" dirty="0" err="1" smtClean="0"/>
              <a:t>CTCLManager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2000" dirty="0" smtClean="0"/>
          </a:p>
          <a:p>
            <a:endParaRPr lang="en-US" sz="2000" dirty="0"/>
          </a:p>
          <a:p>
            <a:r>
              <a:rPr lang="en-US" sz="2000" dirty="0" err="1" smtClean="0"/>
              <a:t>CTCLManager</a:t>
            </a:r>
            <a:endParaRPr lang="en-US" sz="2000" dirty="0" smtClean="0"/>
          </a:p>
          <a:p>
            <a:r>
              <a:rPr lang="en-US" sz="2000" dirty="0" err="1" smtClean="0"/>
              <a:t>ClientCommunicator</a:t>
            </a:r>
            <a:endParaRPr lang="en-US" sz="2000" dirty="0" smtClean="0"/>
          </a:p>
          <a:p>
            <a:r>
              <a:rPr lang="en-US" sz="2000" dirty="0" smtClean="0"/>
              <a:t>Interactive (NSE,BSE,MCX…)</a:t>
            </a:r>
          </a:p>
          <a:p>
            <a:r>
              <a:rPr lang="en-US" sz="2000" dirty="0" smtClean="0"/>
              <a:t>Broadcast (NSE,BSE,MCX…)</a:t>
            </a:r>
          </a:p>
          <a:p>
            <a:r>
              <a:rPr lang="en-US" sz="2000" dirty="0" smtClean="0"/>
              <a:t>GATS</a:t>
            </a:r>
          </a:p>
          <a:p>
            <a:r>
              <a:rPr lang="en-US" sz="2000" dirty="0" smtClean="0"/>
              <a:t>RMS</a:t>
            </a:r>
          </a:p>
          <a:p>
            <a:r>
              <a:rPr lang="en-US" sz="2000" dirty="0" err="1" smtClean="0"/>
              <a:t>ChartManager</a:t>
            </a:r>
            <a:endParaRPr lang="en-US" sz="2000" dirty="0" smtClean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191000" y="1981200"/>
            <a:ext cx="1447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CTCLClient</a:t>
            </a:r>
            <a:r>
              <a:rPr lang="en-US" dirty="0" smtClean="0"/>
              <a:t> 1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4191000" y="2895600"/>
            <a:ext cx="1447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CTCLClient</a:t>
            </a:r>
            <a:r>
              <a:rPr lang="en-US" dirty="0" smtClean="0"/>
              <a:t> 2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191000" y="3810000"/>
            <a:ext cx="1447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CTCLClient</a:t>
            </a:r>
            <a:r>
              <a:rPr lang="en-US" dirty="0" smtClean="0"/>
              <a:t> 3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4191000" y="4724400"/>
            <a:ext cx="14478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/>
              <a:t>CTCLClient</a:t>
            </a:r>
            <a:r>
              <a:rPr lang="en-US" dirty="0" smtClean="0"/>
              <a:t> 4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400800" y="1981200"/>
            <a:ext cx="2133600" cy="3505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 smtClean="0"/>
              <a:t>CTCLManager</a:t>
            </a:r>
            <a:endParaRPr lang="en-US" dirty="0" smtClean="0"/>
          </a:p>
          <a:p>
            <a:r>
              <a:rPr lang="en-US" dirty="0" err="1" smtClean="0"/>
              <a:t>ClientCommunicator</a:t>
            </a:r>
            <a:endParaRPr lang="en-US" dirty="0" smtClean="0"/>
          </a:p>
          <a:p>
            <a:r>
              <a:rPr lang="en-US" dirty="0" smtClean="0"/>
              <a:t>Interactive</a:t>
            </a:r>
          </a:p>
          <a:p>
            <a:r>
              <a:rPr lang="en-US" dirty="0" smtClean="0"/>
              <a:t>      (NSE,BSE,MCX…)</a:t>
            </a:r>
          </a:p>
          <a:p>
            <a:r>
              <a:rPr lang="en-US" dirty="0" smtClean="0"/>
              <a:t>Broadcast </a:t>
            </a:r>
          </a:p>
          <a:p>
            <a:r>
              <a:rPr lang="en-US" dirty="0" smtClean="0"/>
              <a:t>      (NSE,BSE,MCX…)</a:t>
            </a:r>
          </a:p>
          <a:p>
            <a:r>
              <a:rPr lang="en-US" dirty="0" smtClean="0"/>
              <a:t>GATS</a:t>
            </a:r>
          </a:p>
          <a:p>
            <a:r>
              <a:rPr lang="en-US" dirty="0" smtClean="0"/>
              <a:t>RMS</a:t>
            </a:r>
          </a:p>
          <a:p>
            <a:r>
              <a:rPr lang="en-US" dirty="0" err="1" smtClean="0"/>
              <a:t>ChartManager</a:t>
            </a:r>
            <a:endParaRPr lang="en-US" dirty="0" smtClean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5638800" y="2362200"/>
            <a:ext cx="762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638800" y="3275012"/>
            <a:ext cx="762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5638800" y="4189412"/>
            <a:ext cx="762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5638800" y="5103812"/>
            <a:ext cx="762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 of </a:t>
            </a:r>
            <a:r>
              <a:rPr lang="en-US" dirty="0" err="1" smtClean="0"/>
              <a:t>CTCLManager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en-US" dirty="0" smtClean="0"/>
              <a:t>Contract upload</a:t>
            </a:r>
          </a:p>
          <a:p>
            <a:r>
              <a:rPr lang="en-US" dirty="0" smtClean="0"/>
              <a:t>Connection setting</a:t>
            </a:r>
          </a:p>
          <a:p>
            <a:r>
              <a:rPr lang="en-US" dirty="0" smtClean="0"/>
              <a:t>Component monitoring</a:t>
            </a:r>
          </a:p>
          <a:p>
            <a:r>
              <a:rPr lang="en-US" dirty="0" smtClean="0"/>
              <a:t>Exchange login/logoff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 of </a:t>
            </a:r>
            <a:r>
              <a:rPr lang="en-US" dirty="0" err="1" smtClean="0"/>
              <a:t>ClientCommunicator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800" dirty="0" smtClean="0"/>
          </a:p>
          <a:p>
            <a:r>
              <a:rPr lang="en-US" sz="2800" dirty="0" smtClean="0"/>
              <a:t>Client connection</a:t>
            </a:r>
          </a:p>
          <a:p>
            <a:r>
              <a:rPr lang="en-US" sz="2800" dirty="0" smtClean="0"/>
              <a:t>Request/response routing</a:t>
            </a:r>
          </a:p>
          <a:p>
            <a:pPr>
              <a:buNone/>
            </a:pPr>
            <a:r>
              <a:rPr lang="en-US" sz="2800" dirty="0" smtClean="0"/>
              <a:t>	1. User management Client-</a:t>
            </a:r>
            <a:r>
              <a:rPr lang="en-US" sz="2800" dirty="0" err="1" smtClean="0"/>
              <a:t>ClientCommunicator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	2. Order </a:t>
            </a:r>
            <a:r>
              <a:rPr lang="en-US" sz="2800" dirty="0" smtClean="0"/>
              <a:t>Client-</a:t>
            </a:r>
            <a:r>
              <a:rPr lang="en-US" sz="2800" dirty="0" err="1" smtClean="0"/>
              <a:t>ClientCommunicator</a:t>
            </a:r>
            <a:r>
              <a:rPr lang="en-US" sz="2800" dirty="0" smtClean="0"/>
              <a:t>-Interactive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	3. Arbitrage rule </a:t>
            </a:r>
            <a:r>
              <a:rPr lang="en-US" sz="2800" dirty="0" smtClean="0"/>
              <a:t>Client-</a:t>
            </a:r>
            <a:r>
              <a:rPr lang="en-US" sz="2800" dirty="0" err="1" smtClean="0"/>
              <a:t>ClientCommunicator</a:t>
            </a:r>
            <a:r>
              <a:rPr lang="en-US" sz="2800" dirty="0" smtClean="0"/>
              <a:t>-GATS</a:t>
            </a:r>
            <a:endParaRPr lang="en-US" sz="2800" dirty="0" smtClean="0"/>
          </a:p>
          <a:p>
            <a:pPr>
              <a:buNone/>
            </a:pPr>
            <a:r>
              <a:rPr lang="en-US" sz="2800" dirty="0" smtClean="0"/>
              <a:t>	4. RMS setting </a:t>
            </a:r>
            <a:r>
              <a:rPr lang="en-US" sz="2800" dirty="0" smtClean="0"/>
              <a:t>Client-</a:t>
            </a:r>
            <a:r>
              <a:rPr lang="en-US" sz="2800" dirty="0" err="1" smtClean="0"/>
              <a:t>ClientCommunicator</a:t>
            </a:r>
            <a:r>
              <a:rPr lang="en-US" sz="2800" dirty="0" smtClean="0"/>
              <a:t>-RMS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 of Interactive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 smtClean="0"/>
              <a:t>Receives request from </a:t>
            </a:r>
            <a:r>
              <a:rPr lang="en-US" sz="2000" dirty="0" err="1" smtClean="0"/>
              <a:t>ClientCommunicator</a:t>
            </a:r>
            <a:r>
              <a:rPr lang="en-US" sz="2000" dirty="0" smtClean="0"/>
              <a:t>/GATS </a:t>
            </a:r>
          </a:p>
          <a:p>
            <a:r>
              <a:rPr lang="en-US" sz="2000" dirty="0" smtClean="0"/>
              <a:t>Converts request messages from </a:t>
            </a:r>
            <a:r>
              <a:rPr lang="en-US" sz="2000" dirty="0" err="1" smtClean="0"/>
              <a:t>greek</a:t>
            </a:r>
            <a:r>
              <a:rPr lang="en-US" sz="2000" dirty="0" smtClean="0"/>
              <a:t> format to exchange format</a:t>
            </a:r>
          </a:p>
          <a:p>
            <a:r>
              <a:rPr lang="en-US" sz="2000" dirty="0" smtClean="0"/>
              <a:t>Sends request to exchange</a:t>
            </a:r>
          </a:p>
          <a:p>
            <a:r>
              <a:rPr lang="en-US" sz="2000" dirty="0" smtClean="0"/>
              <a:t>Receives response from exchange</a:t>
            </a:r>
          </a:p>
          <a:p>
            <a:r>
              <a:rPr lang="en-US" sz="2000" dirty="0" smtClean="0"/>
              <a:t>Converts response messages from exchange format to </a:t>
            </a:r>
            <a:r>
              <a:rPr lang="en-US" sz="2000" dirty="0" err="1" smtClean="0"/>
              <a:t>greek</a:t>
            </a:r>
            <a:r>
              <a:rPr lang="en-US" sz="2000" dirty="0" smtClean="0"/>
              <a:t> format</a:t>
            </a:r>
          </a:p>
          <a:p>
            <a:r>
              <a:rPr lang="en-US" sz="2000" dirty="0" smtClean="0"/>
              <a:t>Sends response to the requesting end</a:t>
            </a:r>
          </a:p>
          <a:p>
            <a:endParaRPr lang="en-US" sz="2000" dirty="0" smtClean="0"/>
          </a:p>
          <a:p>
            <a:r>
              <a:rPr lang="en-US" sz="2000" dirty="0" smtClean="0"/>
              <a:t>Request/response type: </a:t>
            </a:r>
          </a:p>
          <a:p>
            <a:pPr>
              <a:buNone/>
            </a:pPr>
            <a:r>
              <a:rPr lang="en-US" sz="2000" dirty="0" smtClean="0"/>
              <a:t>	1. Exchange login/logoff</a:t>
            </a:r>
          </a:p>
          <a:p>
            <a:pPr>
              <a:buNone/>
            </a:pPr>
            <a:r>
              <a:rPr lang="en-US" sz="2000" dirty="0" smtClean="0"/>
              <a:t>	2. New Order</a:t>
            </a:r>
          </a:p>
          <a:p>
            <a:pPr>
              <a:buNone/>
            </a:pPr>
            <a:r>
              <a:rPr lang="en-US" sz="2000" dirty="0" smtClean="0"/>
              <a:t>	3. Modify Order</a:t>
            </a:r>
          </a:p>
          <a:p>
            <a:pPr>
              <a:buNone/>
            </a:pPr>
            <a:r>
              <a:rPr lang="en-US" sz="2000" dirty="0" smtClean="0"/>
              <a:t>	4. Cancel Order</a:t>
            </a:r>
          </a:p>
          <a:p>
            <a:pPr>
              <a:buNone/>
            </a:pPr>
            <a:r>
              <a:rPr lang="en-US" sz="2000" dirty="0" smtClean="0"/>
              <a:t>	5. Trade</a:t>
            </a:r>
          </a:p>
          <a:p>
            <a:endParaRPr lang="en-US" sz="2000" dirty="0" smtClean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 of Broadcast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Receives broadcast data from exchange</a:t>
            </a:r>
          </a:p>
          <a:p>
            <a:r>
              <a:rPr lang="en-US" dirty="0" smtClean="0"/>
              <a:t>Converts data from exchange format to </a:t>
            </a:r>
            <a:r>
              <a:rPr lang="en-US" dirty="0" err="1" smtClean="0"/>
              <a:t>greek</a:t>
            </a:r>
            <a:r>
              <a:rPr lang="en-US" dirty="0" smtClean="0"/>
              <a:t> format</a:t>
            </a:r>
          </a:p>
          <a:p>
            <a:r>
              <a:rPr lang="en-US" dirty="0" smtClean="0"/>
              <a:t>Sends </a:t>
            </a:r>
            <a:r>
              <a:rPr lang="en-US" dirty="0" err="1" smtClean="0"/>
              <a:t>greek</a:t>
            </a:r>
            <a:r>
              <a:rPr lang="en-US" dirty="0" smtClean="0"/>
              <a:t> format data to </a:t>
            </a:r>
            <a:r>
              <a:rPr lang="en-US" dirty="0" err="1" smtClean="0"/>
              <a:t>CTCLClient</a:t>
            </a:r>
            <a:r>
              <a:rPr lang="en-US" dirty="0" smtClean="0"/>
              <a:t> to display</a:t>
            </a:r>
          </a:p>
          <a:p>
            <a:r>
              <a:rPr lang="en-US" dirty="0" smtClean="0"/>
              <a:t>Sends </a:t>
            </a:r>
            <a:r>
              <a:rPr lang="en-US" dirty="0" err="1" smtClean="0"/>
              <a:t>greek</a:t>
            </a:r>
            <a:r>
              <a:rPr lang="en-US" dirty="0" smtClean="0"/>
              <a:t> format data to GATS for arbitrage order generations if any rule is active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Role of RMS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This component manages all the risks in trading</a:t>
            </a:r>
          </a:p>
          <a:p>
            <a:r>
              <a:rPr lang="en-US" dirty="0" smtClean="0"/>
              <a:t>Before sending order to exchange interactive sends order parameters to the RMS for risk validations</a:t>
            </a:r>
          </a:p>
          <a:p>
            <a:r>
              <a:rPr lang="en-US" dirty="0" smtClean="0"/>
              <a:t>If validates true, order forwarded to the exchange</a:t>
            </a:r>
          </a:p>
          <a:p>
            <a:r>
              <a:rPr lang="en-US" dirty="0" smtClean="0"/>
              <a:t>If validates false, order reverted to the client with RMS error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Rectangle 86"/>
          <p:cNvSpPr/>
          <p:nvPr/>
        </p:nvSpPr>
        <p:spPr>
          <a:xfrm>
            <a:off x="2743200" y="1447800"/>
            <a:ext cx="5257800" cy="3962400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u="sng" dirty="0" err="1" smtClean="0">
                <a:solidFill>
                  <a:schemeClr val="tx1"/>
                </a:solidFill>
              </a:rPr>
              <a:t>CTCLManager</a:t>
            </a:r>
            <a:endParaRPr lang="en-US" u="sng" dirty="0" smtClean="0">
              <a:solidFill>
                <a:schemeClr val="tx1"/>
              </a:solidFill>
            </a:endParaRPr>
          </a:p>
          <a:p>
            <a:pPr algn="ctr"/>
            <a:endParaRPr lang="en-US" u="sng" dirty="0" smtClean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  <a:p>
            <a:pPr algn="ctr"/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Software Architecture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90600" y="2057400"/>
            <a:ext cx="1447800" cy="685800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CTCLClient</a:t>
            </a:r>
            <a:r>
              <a:rPr lang="en-US" dirty="0" smtClean="0">
                <a:solidFill>
                  <a:schemeClr val="tx1"/>
                </a:solidFill>
              </a:rPr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802187" y="4495800"/>
            <a:ext cx="1447800" cy="685800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Interactive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124200" y="4495800"/>
            <a:ext cx="1447800" cy="685800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Broadcast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" name="Straight Arrow Connector 19"/>
          <p:cNvCxnSpPr/>
          <p:nvPr/>
        </p:nvCxnSpPr>
        <p:spPr>
          <a:xfrm>
            <a:off x="2438400" y="2284412"/>
            <a:ext cx="6858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124200" y="2057400"/>
            <a:ext cx="4572000" cy="685800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ClientCommunicator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629400" y="4495800"/>
            <a:ext cx="1066800" cy="685800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RMS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38600" y="3276600"/>
            <a:ext cx="1447800" cy="685800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GATS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8" name="Straight Arrow Connector 17"/>
          <p:cNvCxnSpPr/>
          <p:nvPr/>
        </p:nvCxnSpPr>
        <p:spPr>
          <a:xfrm rot="5400000">
            <a:off x="4917679" y="3619103"/>
            <a:ext cx="1751806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 rot="5400000">
            <a:off x="4382294" y="3009900"/>
            <a:ext cx="5334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6248400" y="4724399"/>
            <a:ext cx="381000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rot="10800000" flipV="1">
            <a:off x="6248400" y="5029198"/>
            <a:ext cx="381000" cy="1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>
          <a:xfrm rot="5400000">
            <a:off x="4688682" y="4228306"/>
            <a:ext cx="5334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4800600" y="5715000"/>
            <a:ext cx="1447800" cy="685800"/>
          </a:xfrm>
          <a:prstGeom prst="rect">
            <a:avLst/>
          </a:prstGeom>
          <a:noFill/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Exchange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33" name="Straight Arrow Connector 32"/>
          <p:cNvCxnSpPr/>
          <p:nvPr/>
        </p:nvCxnSpPr>
        <p:spPr>
          <a:xfrm rot="5400000">
            <a:off x="5068094" y="5447506"/>
            <a:ext cx="5334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 rot="5400000" flipH="1" flipV="1">
            <a:off x="4991894" y="4229100"/>
            <a:ext cx="5334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rot="5400000" flipH="1" flipV="1">
            <a:off x="5222876" y="3619500"/>
            <a:ext cx="17526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rot="10800000">
            <a:off x="2438400" y="2513011"/>
            <a:ext cx="6858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5400000" flipH="1" flipV="1">
            <a:off x="5448300" y="5448300"/>
            <a:ext cx="5334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/>
          <p:nvPr/>
        </p:nvCxnSpPr>
        <p:spPr>
          <a:xfrm rot="5400000" flipH="1" flipV="1">
            <a:off x="4153694" y="4228306"/>
            <a:ext cx="5334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Elbow Connector 68"/>
          <p:cNvCxnSpPr>
            <a:stCxn id="32" idx="1"/>
            <a:endCxn id="7" idx="2"/>
          </p:cNvCxnSpPr>
          <p:nvPr/>
        </p:nvCxnSpPr>
        <p:spPr>
          <a:xfrm rot="10800000">
            <a:off x="3848100" y="5181600"/>
            <a:ext cx="952500" cy="87630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Elbow Connector 68"/>
          <p:cNvCxnSpPr/>
          <p:nvPr/>
        </p:nvCxnSpPr>
        <p:spPr>
          <a:xfrm rot="10800000">
            <a:off x="1676400" y="2743200"/>
            <a:ext cx="1447800" cy="2057400"/>
          </a:xfrm>
          <a:prstGeom prst="bentConnector2">
            <a:avLst/>
          </a:prstGeom>
          <a:ln>
            <a:solidFill>
              <a:schemeClr val="tx1"/>
            </a:solidFill>
            <a:tailEnd type="arrow"/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4572000" y="4800600"/>
            <a:ext cx="228600" cy="1588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  <a:scene3d>
            <a:camera prst="orthographicFront"/>
            <a:lightRig rig="threePt" dir="t"/>
          </a:scene3d>
          <a:sp3d>
            <a:bevelT prst="angle"/>
            <a:bevelB prst="angle"/>
          </a:sp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6089</TotalTime>
  <Words>324</Words>
  <Application>Microsoft Office PowerPoint</Application>
  <PresentationFormat>On-screen Show (4:3)</PresentationFormat>
  <Paragraphs>131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GREEKSOFT TECH PVT LTD</vt:lpstr>
      <vt:lpstr>Domain Knowledge</vt:lpstr>
      <vt:lpstr>Question</vt:lpstr>
      <vt:lpstr>Product Knowledge</vt:lpstr>
      <vt:lpstr>Question</vt:lpstr>
      <vt:lpstr>Software Introduction</vt:lpstr>
      <vt:lpstr>Role of CTCLClient</vt:lpstr>
      <vt:lpstr>Question</vt:lpstr>
      <vt:lpstr>Components of CTCLManager</vt:lpstr>
      <vt:lpstr>Role of CTCLManager</vt:lpstr>
      <vt:lpstr>Role of ClientCommunicator</vt:lpstr>
      <vt:lpstr>Role of Interactive</vt:lpstr>
      <vt:lpstr>Role of Broadcast</vt:lpstr>
      <vt:lpstr>Role of RMS</vt:lpstr>
      <vt:lpstr>Software Architecture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GREEKSOFT TECH PVT LTD</dc:title>
  <dc:creator>Bhushan</dc:creator>
  <cp:lastModifiedBy>Bhushan</cp:lastModifiedBy>
  <cp:revision>564</cp:revision>
  <dcterms:created xsi:type="dcterms:W3CDTF">2021-09-04T10:03:40Z</dcterms:created>
  <dcterms:modified xsi:type="dcterms:W3CDTF">2021-09-09T10:57:07Z</dcterms:modified>
</cp:coreProperties>
</file>